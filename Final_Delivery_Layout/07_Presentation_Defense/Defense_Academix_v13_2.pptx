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7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1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60A500-184D-47EA-A5BA-64399A80C3D1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5D6FF1-1038-4786-A962-F5E81513D4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705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5D6FF1-1038-4786-A962-F5E81513D42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8154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5D6FF1-1038-4786-A962-F5E81513D42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7102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5D6FF1-1038-4786-A962-F5E81513D42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750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5D6FF1-1038-4786-A962-F5E81513D42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0130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5D6FF1-1038-4786-A962-F5E81513D42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392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5D6FF1-1038-4786-A962-F5E81513D42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847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5D6FF1-1038-4786-A962-F5E81513D42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0256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5D6FF1-1038-4786-A962-F5E81513D42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891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5D6FF1-1038-4786-A962-F5E81513D42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1157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5D6FF1-1038-4786-A962-F5E81513D42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5928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5D6FF1-1038-4786-A962-F5E81513D42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0604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5D6FF1-1038-4786-A962-F5E81513D42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663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5D6FF1-1038-4786-A962-F5E81513D42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7482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5D6FF1-1038-4786-A962-F5E81513D42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1270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CF80E-4526-4CD3-8109-6F8271AB36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EEE364-01B8-4AE1-A119-6FF6F2956B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20491-9178-4A47-A544-15FE33ACE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B5755-B42C-4DF6-838B-FD6D3F7E1E45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EC5BA-D7B9-4BD4-81A7-330B9DB98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9C44EE-F93F-4C47-BAB1-718701D0F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A80D0-E4ED-4486-8C51-CA8EBDC68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480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CAC03-77F1-4AD8-9B45-274CDF6E9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B261B-9ACD-4C27-B907-03E98E47C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AF282-C517-421B-B911-039CAFFBC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B5755-B42C-4DF6-838B-FD6D3F7E1E45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1A659-A096-40A2-B1D7-D01A1A044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EDBB0E-7E73-461C-A5B3-6E5C0CA55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A80D0-E4ED-4486-8C51-CA8EBDC68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151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9879E-F96A-45C8-B381-1892CD6D4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825A82-64FD-4EB2-8F99-B69C38B787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34361-C362-4C31-A81D-3EF6F74E9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B5755-B42C-4DF6-838B-FD6D3F7E1E45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5359A-2356-4887-BE69-98AA9E196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5B5F53-CED3-428B-B3CE-19F03ED59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A80D0-E4ED-4486-8C51-CA8EBDC68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982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0BBD3-4AF8-49DD-8F1A-C1F5A9CE5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E6A28-0E21-4582-8B4A-5140F94A29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12E1CE-383D-4163-9B4B-A3C52C0F89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55F5C-9E1B-47AC-92CA-E1A6F52DC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B5755-B42C-4DF6-838B-FD6D3F7E1E45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134827-17F1-49FA-B03D-A424C9E70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3186C2-2562-48FF-9B56-1B0F54FCA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A80D0-E4ED-4486-8C51-CA8EBDC68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470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01C6F-DD88-41C6-95A8-98A9849CF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7FE78E-ED23-4415-A145-510B3C0CE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224746-4D9C-4E02-A4CD-F39096ED52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8BC48F-1C17-4D61-B028-141168E2E8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1C4631-0F20-4DFD-B7F3-6D560B3848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B4A716-03E6-406F-9144-0C1B6F5E0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B5755-B42C-4DF6-838B-FD6D3F7E1E45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21792C-FB8D-4CF1-BCCE-AC4358DAC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D2EFA5-8833-42AB-B3A7-5D5B73649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A80D0-E4ED-4486-8C51-CA8EBDC68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52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73640-8A44-4D53-98AF-FCB0BB685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CC453C-0389-448F-B940-2A8E0E402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B5755-B42C-4DF6-838B-FD6D3F7E1E45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FA0A65-C0C0-43CF-9B2C-F5F394F58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10E58B-AE25-4594-A386-3A5BF83B2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A80D0-E4ED-4486-8C51-CA8EBDC68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106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150BB7-48D7-4C14-974C-F4D4D6290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B5755-B42C-4DF6-838B-FD6D3F7E1E45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59C89A-1515-4F81-B96E-D84977137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B515AF-D92E-4817-B334-B7566C49F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A80D0-E4ED-4486-8C51-CA8EBDC68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353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6E358-9DB3-4392-86DB-4F4332138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845B5-B490-47CC-9E22-574F6D1AB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3E8576-B5E2-4BD7-ACF9-021487D1FF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A71334-7F75-4459-B049-85A1172E7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B5755-B42C-4DF6-838B-FD6D3F7E1E45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98F63F-1082-40D1-A0BD-9C195AA85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8F837F-777F-44FE-8984-227D5C495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A80D0-E4ED-4486-8C51-CA8EBDC68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593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E24D3-3629-4C67-BFBD-82FC005A9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E730BD-8F85-4FDF-9D24-D16B40B839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D2BD1F-37EF-40A8-9DCD-0760D74A20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FB6C81-4E15-4D1D-B3CA-2EAFB3E42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B5755-B42C-4DF6-838B-FD6D3F7E1E45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5F565-5223-486B-8517-C2742C236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6AF34F-B3B7-4DBA-9F2C-EF6E8389D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A80D0-E4ED-4486-8C51-CA8EBDC68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067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32A24-8976-4B98-8C3A-530D968DB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226D14-9E8B-42B6-B1C7-8F7970AB66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CB90B-3DBE-4C52-8CF0-D999CBFF7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B5755-B42C-4DF6-838B-FD6D3F7E1E45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A19571-B65F-4DE4-82BA-09117E316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DA9C6-CB8E-44CE-B9BC-01E485CFB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A80D0-E4ED-4486-8C51-CA8EBDC68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660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BF7E91-BAB7-4543-9524-36BC1FF0A5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B962B6-18BB-4B1B-8088-C777EF29C5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0C117C-A5DD-42EA-B402-339E18428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B5755-B42C-4DF6-838B-FD6D3F7E1E45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C4F68-CB45-4EF9-93A9-7F36C95B1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E5F83-6647-42E9-8F30-E8FCEE01D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A80D0-E4ED-4486-8C51-CA8EBDC68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741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822B98-0C90-4827-8AE8-6E34D034E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BD81B2-2A88-42B3-89E7-4FAC78A3FC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77B10-FE26-4B72-92A1-3B05807EB4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BB5755-B42C-4DF6-838B-FD6D3F7E1E45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16C89-41A4-4AD0-B7D8-2106C90A04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66D11E-E2D8-45E2-99D5-A28CC8BDA1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EA80D0-E4ED-4486-8C51-CA8EBDC687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258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27976C-B042-496C-8BA6-16A919AE8ED9}"/>
              </a:ext>
            </a:extLst>
          </p:cNvPr>
          <p:cNvSpPr txBox="1"/>
          <p:nvPr/>
        </p:nvSpPr>
        <p:spPr>
          <a:xfrm>
            <a:off x="1270000" y="2286000"/>
            <a:ext cx="965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ar-DZ" sz="3200" b="1">
                <a:solidFill>
                  <a:srgbClr val="A3CC4E"/>
                </a:solidFill>
                <a:latin typeface="Arial" panose="020B0604020202020204" pitchFamily="34" charset="0"/>
              </a:rPr>
              <a:t>بناء نظام دعم قرار لتسيير المخزون</a:t>
            </a:r>
            <a:endParaRPr lang="en-US" sz="3200" b="1">
              <a:solidFill>
                <a:srgbClr val="A3CC4E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10B8CF-09DD-4128-81B6-8EE87FA83624}"/>
              </a:ext>
            </a:extLst>
          </p:cNvPr>
          <p:cNvSpPr txBox="1"/>
          <p:nvPr/>
        </p:nvSpPr>
        <p:spPr>
          <a:xfrm>
            <a:off x="1270000" y="3810000"/>
            <a:ext cx="96520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ar-DZ">
                <a:solidFill>
                  <a:srgbClr val="AAAAAA"/>
                </a:solidFill>
                <a:latin typeface="Arial" panose="020B0604020202020204" pitchFamily="34" charset="0"/>
              </a:rPr>
              <a:t>ماحي كمال عبد الغني | إشراف: دهيني ميمونة
</a:t>
            </a:r>
            <a:r>
              <a:rPr lang="en-US">
                <a:solidFill>
                  <a:srgbClr val="AAAAAA"/>
                </a:solidFill>
                <a:latin typeface="Arial" panose="020B0604020202020204" pitchFamily="34" charset="0"/>
              </a:rPr>
              <a:t>BTS </a:t>
            </a:r>
            <a:r>
              <a:rPr lang="ar-DZ">
                <a:solidFill>
                  <a:srgbClr val="AAAAAA"/>
                </a:solidFill>
                <a:latin typeface="Arial" panose="020B0604020202020204" pitchFamily="34" charset="0"/>
              </a:rPr>
              <a:t>تسيير المخزونات — </a:t>
            </a:r>
            <a:r>
              <a:rPr lang="en-US">
                <a:solidFill>
                  <a:srgbClr val="AAAAAA"/>
                </a:solidFill>
                <a:latin typeface="Arial" panose="020B0604020202020204" pitchFamily="34" charset="0"/>
              </a:rPr>
              <a:t>CNEPD TAG1801
</a:t>
            </a:r>
            <a:r>
              <a:rPr lang="ar-DZ">
                <a:solidFill>
                  <a:srgbClr val="AAAAAA"/>
                </a:solidFill>
                <a:latin typeface="Arial" panose="020B0604020202020204" pitchFamily="34" charset="0"/>
              </a:rPr>
              <a:t>معهد </a:t>
            </a:r>
            <a:r>
              <a:rPr lang="en-US">
                <a:solidFill>
                  <a:srgbClr val="AAAAAA"/>
                </a:solidFill>
                <a:latin typeface="Arial" panose="020B0604020202020204" pitchFamily="34" charset="0"/>
              </a:rPr>
              <a:t>INMF </a:t>
            </a:r>
            <a:r>
              <a:rPr lang="ar-DZ">
                <a:solidFill>
                  <a:srgbClr val="AAAAAA"/>
                </a:solidFill>
                <a:latin typeface="Arial" panose="020B0604020202020204" pitchFamily="34" charset="0"/>
              </a:rPr>
              <a:t>بن سعيدي عبد العاطي — البيض
نظام دعم القرار لتسيير المخزون </a:t>
            </a:r>
            <a:r>
              <a:rPr lang="en-US">
                <a:solidFill>
                  <a:srgbClr val="AAAAAA"/>
                </a:solidFill>
                <a:latin typeface="Arial" panose="020B0604020202020204" pitchFamily="34" charset="0"/>
              </a:rPr>
              <a:t>v13.2</a:t>
            </a:r>
          </a:p>
        </p:txBody>
      </p:sp>
    </p:spTree>
    <p:extLst>
      <p:ext uri="{BB962C8B-B14F-4D97-AF65-F5344CB8AC3E}">
        <p14:creationId xmlns:p14="http://schemas.microsoft.com/office/powerpoint/2010/main" val="3494290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48B720-52B1-4A65-A38E-5A13D997382A}"/>
              </a:ext>
            </a:extLst>
          </p:cNvPr>
          <p:cNvSpPr txBox="1"/>
          <p:nvPr/>
        </p:nvSpPr>
        <p:spPr>
          <a:xfrm>
            <a:off x="635000" y="3810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ar-DZ" sz="2800" b="1">
                <a:solidFill>
                  <a:srgbClr val="A3CC4E"/>
                </a:solidFill>
                <a:latin typeface="Arial" panose="020B0604020202020204" pitchFamily="34" charset="0"/>
              </a:rPr>
              <a:t>إشكالية البحث</a:t>
            </a:r>
            <a:endParaRPr lang="en-US" sz="2800" b="1">
              <a:solidFill>
                <a:srgbClr val="A3CC4E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5B9397-800D-4ECC-BBE2-4527ABC13252}"/>
              </a:ext>
            </a:extLst>
          </p:cNvPr>
          <p:cNvSpPr txBox="1"/>
          <p:nvPr/>
        </p:nvSpPr>
        <p:spPr>
          <a:xfrm>
            <a:off x="635000" y="1651000"/>
            <a:ext cx="10922000" cy="338554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ar-DZ">
                <a:solidFill>
                  <a:srgbClr val="E8E8E8"/>
                </a:solidFill>
                <a:latin typeface="Arial" panose="020B0604020202020204" pitchFamily="34" charset="0"/>
              </a:rPr>
              <a:t>تسيير مخزون مديرية التربية لولاية البيض
• نفاد متكرر للأصناف الأساسية (</a:t>
            </a:r>
            <a:r>
              <a:rPr lang="en-US">
                <a:solidFill>
                  <a:srgbClr val="E8E8E8"/>
                </a:solidFill>
                <a:latin typeface="Arial" panose="020B0604020202020204" pitchFamily="34" charset="0"/>
              </a:rPr>
              <a:t>Toner G030: </a:t>
            </a:r>
            <a:r>
              <a:rPr lang="ar-DZ">
                <a:solidFill>
                  <a:srgbClr val="E8E8E8"/>
                </a:solidFill>
                <a:latin typeface="Arial" panose="020B0604020202020204" pitchFamily="34" charset="0"/>
              </a:rPr>
              <a:t>وحدة واحدة)
• لا تتبع آني — الجرد اليدوي يستغرق أسابيع
• أرصدة وهمية: 42% من الأصناف دون مستوى </a:t>
            </a:r>
            <a:r>
              <a:rPr lang="en-US">
                <a:solidFill>
                  <a:srgbClr val="E8E8E8"/>
                </a:solidFill>
                <a:latin typeface="Arial" panose="020B0604020202020204" pitchFamily="34" charset="0"/>
              </a:rPr>
              <a:t>ROP
• </a:t>
            </a:r>
            <a:r>
              <a:rPr lang="ar-DZ">
                <a:solidFill>
                  <a:srgbClr val="E8E8E8"/>
                </a:solidFill>
                <a:latin typeface="Arial" panose="020B0604020202020204" pitchFamily="34" charset="0"/>
              </a:rPr>
              <a:t>تكلفة الحلول التجارية: ~8.5 مليون دج/سنة
كيف نرقمن تسيير المخزون بتكلفة صفرية ودون إنترنت؟</a:t>
            </a:r>
            <a:endParaRPr lang="en-US">
              <a:solidFill>
                <a:srgbClr val="E8E8E8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800A0B-E6CA-4C9D-B0B0-82FB00BA63DA}"/>
              </a:ext>
            </a:extLst>
          </p:cNvPr>
          <p:cNvSpPr txBox="1"/>
          <p:nvPr/>
        </p:nvSpPr>
        <p:spPr>
          <a:xfrm>
            <a:off x="10795000" y="6096000"/>
            <a:ext cx="127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rial" panose="020B0604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83792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02962B-8E20-4034-9A4B-3D5A7D56624E}"/>
              </a:ext>
            </a:extLst>
          </p:cNvPr>
          <p:cNvSpPr txBox="1"/>
          <p:nvPr/>
        </p:nvSpPr>
        <p:spPr>
          <a:xfrm>
            <a:off x="635000" y="3810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ar-DZ" sz="2800" b="1">
                <a:solidFill>
                  <a:srgbClr val="A3CC4E"/>
                </a:solidFill>
                <a:latin typeface="Arial" panose="020B0604020202020204" pitchFamily="34" charset="0"/>
              </a:rPr>
              <a:t>التشخيص الميداني — 38 يوم عمل</a:t>
            </a:r>
            <a:endParaRPr lang="en-US" sz="2800" b="1">
              <a:solidFill>
                <a:srgbClr val="A3CC4E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A41A55-474C-4A52-BBF4-EB1E8309FC4D}"/>
              </a:ext>
            </a:extLst>
          </p:cNvPr>
          <p:cNvSpPr txBox="1"/>
          <p:nvPr/>
        </p:nvSpPr>
        <p:spPr>
          <a:xfrm>
            <a:off x="635000" y="1651000"/>
            <a:ext cx="10922000" cy="29546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ar-DZ">
                <a:solidFill>
                  <a:srgbClr val="E8E8E8"/>
                </a:solidFill>
                <a:latin typeface="Arial" panose="020B0604020202020204" pitchFamily="34" charset="0"/>
              </a:rPr>
              <a:t>• مدة الملاحظة: 38 يوم عمل
• عدد الأصناف المُدارة: 12 صنف
• الأصناف الحرجة (&lt; </a:t>
            </a:r>
            <a:r>
              <a:rPr lang="en-US">
                <a:solidFill>
                  <a:srgbClr val="E8E8E8"/>
                </a:solidFill>
                <a:latin typeface="Arial" panose="020B0604020202020204" pitchFamily="34" charset="0"/>
              </a:rPr>
              <a:t>ROP): 5 </a:t>
            </a:r>
            <a:r>
              <a:rPr lang="ar-DZ">
                <a:solidFill>
                  <a:srgbClr val="E8E8E8"/>
                </a:solidFill>
                <a:latin typeface="Arial" panose="020B0604020202020204" pitchFamily="34" charset="0"/>
              </a:rPr>
              <a:t>من 12 (42%)
• الطلب السنوي (</a:t>
            </a:r>
            <a:r>
              <a:rPr lang="en-US">
                <a:solidFill>
                  <a:srgbClr val="E8E8E8"/>
                </a:solidFill>
                <a:latin typeface="Arial" panose="020B0604020202020204" pitchFamily="34" charset="0"/>
              </a:rPr>
              <a:t>D): 1,546 </a:t>
            </a:r>
            <a:r>
              <a:rPr lang="ar-DZ">
                <a:solidFill>
                  <a:srgbClr val="E8E8E8"/>
                </a:solidFill>
                <a:latin typeface="Arial" panose="020B0604020202020204" pitchFamily="34" charset="0"/>
              </a:rPr>
              <a:t>وحدة
• نقطة إعادة الطلب (</a:t>
            </a:r>
            <a:r>
              <a:rPr lang="en-US">
                <a:solidFill>
                  <a:srgbClr val="E8E8E8"/>
                </a:solidFill>
                <a:latin typeface="Arial" panose="020B0604020202020204" pitchFamily="34" charset="0"/>
              </a:rPr>
              <a:t>ROP): 205.6 </a:t>
            </a:r>
            <a:r>
              <a:rPr lang="ar-DZ">
                <a:solidFill>
                  <a:srgbClr val="E8E8E8"/>
                </a:solidFill>
                <a:latin typeface="Arial" panose="020B0604020202020204" pitchFamily="34" charset="0"/>
              </a:rPr>
              <a:t>وحدة
</a:t>
            </a:r>
            <a:r>
              <a:rPr lang="en-US">
                <a:solidFill>
                  <a:srgbClr val="E8E8E8"/>
                </a:solidFill>
                <a:latin typeface="Arial" panose="020B0604020202020204" pitchFamily="34" charset="0"/>
              </a:rPr>
              <a:t>ART-005 Toner G030: 1 </a:t>
            </a:r>
            <a:r>
              <a:rPr lang="ar-DZ">
                <a:solidFill>
                  <a:srgbClr val="E8E8E8"/>
                </a:solidFill>
                <a:latin typeface="Arial" panose="020B0604020202020204" pitchFamily="34" charset="0"/>
              </a:rPr>
              <a:t>وحدة فقط — نفاد كلي في ديسمبر 2025</a:t>
            </a:r>
            <a:endParaRPr lang="en-US">
              <a:solidFill>
                <a:srgbClr val="E8E8E8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FCF328-EE02-4BD8-B1FF-88056FB1282D}"/>
              </a:ext>
            </a:extLst>
          </p:cNvPr>
          <p:cNvSpPr txBox="1"/>
          <p:nvPr/>
        </p:nvSpPr>
        <p:spPr>
          <a:xfrm>
            <a:off x="10795000" y="6096000"/>
            <a:ext cx="127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rial" panose="020B0604020202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33300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2BBB4E-9121-4B2C-A3C8-399864BB947B}"/>
              </a:ext>
            </a:extLst>
          </p:cNvPr>
          <p:cNvSpPr txBox="1"/>
          <p:nvPr/>
        </p:nvSpPr>
        <p:spPr>
          <a:xfrm>
            <a:off x="635000" y="3810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ar-DZ" sz="2800" b="1">
                <a:solidFill>
                  <a:srgbClr val="A3CC4E"/>
                </a:solidFill>
                <a:latin typeface="Arial" panose="020B0604020202020204" pitchFamily="34" charset="0"/>
              </a:rPr>
              <a:t>لماذا نظام دعم قرار (</a:t>
            </a:r>
            <a:r>
              <a:rPr lang="en-US" sz="2800" b="1">
                <a:solidFill>
                  <a:srgbClr val="A3CC4E"/>
                </a:solidFill>
                <a:latin typeface="Arial" panose="020B0604020202020204" pitchFamily="34" charset="0"/>
              </a:rPr>
              <a:t>DSS)؟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856715-19CA-411C-8467-81DBE2A2D035}"/>
              </a:ext>
            </a:extLst>
          </p:cNvPr>
          <p:cNvSpPr txBox="1"/>
          <p:nvPr/>
        </p:nvSpPr>
        <p:spPr>
          <a:xfrm>
            <a:off x="635000" y="1651000"/>
            <a:ext cx="10922000" cy="467820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>
                <a:solidFill>
                  <a:srgbClr val="E8E8E8"/>
                </a:solidFill>
                <a:latin typeface="Arial" panose="020B0604020202020204" pitchFamily="34" charset="0"/>
              </a:rPr>
              <a:t>Excel/VBA — </a:t>
            </a:r>
            <a:r>
              <a:rPr lang="ar-DZ">
                <a:solidFill>
                  <a:srgbClr val="E8E8E8"/>
                </a:solidFill>
                <a:latin typeface="Arial" panose="020B0604020202020204" pitchFamily="34" charset="0"/>
              </a:rPr>
              <a:t>الحل الواقعي للقطاع العمومي
المزايا:
• تكلفة صفرية — </a:t>
            </a:r>
            <a:r>
              <a:rPr lang="en-US">
                <a:solidFill>
                  <a:srgbClr val="E8E8E8"/>
                </a:solidFill>
                <a:latin typeface="Arial" panose="020B0604020202020204" pitchFamily="34" charset="0"/>
              </a:rPr>
              <a:t>Office </a:t>
            </a:r>
            <a:r>
              <a:rPr lang="ar-DZ">
                <a:solidFill>
                  <a:srgbClr val="E8E8E8"/>
                </a:solidFill>
                <a:latin typeface="Arial" panose="020B0604020202020204" pitchFamily="34" charset="0"/>
              </a:rPr>
              <a:t>متوفر مسبقًا
• عمل دون إنترنت — مناسب للولايات النائية
• واجهة مألوفة — لا يحتاج تكوين تقني
• مرونة كاملة — تكييف مع الإجراءات المحلية
بدائل غير مناسبة:
• </a:t>
            </a:r>
            <a:r>
              <a:rPr lang="en-US">
                <a:solidFill>
                  <a:srgbClr val="E8E8E8"/>
                </a:solidFill>
                <a:latin typeface="Arial" panose="020B0604020202020204" pitchFamily="34" charset="0"/>
              </a:rPr>
              <a:t>SAP: ~5 </a:t>
            </a:r>
            <a:r>
              <a:rPr lang="ar-DZ">
                <a:solidFill>
                  <a:srgbClr val="E8E8E8"/>
                </a:solidFill>
                <a:latin typeface="Arial" panose="020B0604020202020204" pitchFamily="34" charset="0"/>
              </a:rPr>
              <a:t>مليون دج/سنة
• </a:t>
            </a:r>
            <a:r>
              <a:rPr lang="en-US">
                <a:solidFill>
                  <a:srgbClr val="E8E8E8"/>
                </a:solidFill>
                <a:latin typeface="Arial" panose="020B0604020202020204" pitchFamily="34" charset="0"/>
              </a:rPr>
              <a:t>Oracle: ~3.5 </a:t>
            </a:r>
            <a:r>
              <a:rPr lang="ar-DZ">
                <a:solidFill>
                  <a:srgbClr val="E8E8E8"/>
                </a:solidFill>
                <a:latin typeface="Arial" panose="020B0604020202020204" pitchFamily="34" charset="0"/>
              </a:rPr>
              <a:t>مليون دج/سنة</a:t>
            </a:r>
            <a:endParaRPr lang="en-US">
              <a:solidFill>
                <a:srgbClr val="E8E8E8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C46EA8-41B2-4405-B2B3-46DAEF42BFE6}"/>
              </a:ext>
            </a:extLst>
          </p:cNvPr>
          <p:cNvSpPr txBox="1"/>
          <p:nvPr/>
        </p:nvSpPr>
        <p:spPr>
          <a:xfrm>
            <a:off x="10795000" y="6096000"/>
            <a:ext cx="127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rial" panose="020B06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45256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D57841-556C-49F9-81D8-3F5A9A03F73A}"/>
              </a:ext>
            </a:extLst>
          </p:cNvPr>
          <p:cNvSpPr txBox="1"/>
          <p:nvPr/>
        </p:nvSpPr>
        <p:spPr>
          <a:xfrm>
            <a:off x="635000" y="3810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ar-DZ" sz="2800" b="1">
                <a:solidFill>
                  <a:srgbClr val="A3CC4E"/>
                </a:solidFill>
                <a:latin typeface="Arial" panose="020B0604020202020204" pitchFamily="34" charset="0"/>
              </a:rPr>
              <a:t>بنية النظام </a:t>
            </a:r>
            <a:r>
              <a:rPr lang="en-US" sz="2800" b="1">
                <a:solidFill>
                  <a:srgbClr val="A3CC4E"/>
                </a:solidFill>
                <a:latin typeface="Arial" panose="020B0604020202020204" pitchFamily="34" charset="0"/>
              </a:rPr>
              <a:t>v13.2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B31010-4FA5-43EF-BEF9-999164A98242}"/>
              </a:ext>
            </a:extLst>
          </p:cNvPr>
          <p:cNvSpPr txBox="1"/>
          <p:nvPr/>
        </p:nvSpPr>
        <p:spPr>
          <a:xfrm>
            <a:off x="635000" y="1651000"/>
            <a:ext cx="10922000" cy="252376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ar-DZ">
                <a:solidFill>
                  <a:srgbClr val="E8E8E8"/>
                </a:solidFill>
                <a:latin typeface="Arial" panose="020B0604020202020204" pitchFamily="34" charset="0"/>
              </a:rPr>
              <a:t>• 25 ورقة عمل (</a:t>
            </a:r>
            <a:r>
              <a:rPr lang="en-US">
                <a:solidFill>
                  <a:srgbClr val="E8E8E8"/>
                </a:solidFill>
                <a:latin typeface="Arial" panose="020B0604020202020204" pitchFamily="34" charset="0"/>
              </a:rPr>
              <a:t>ACCUEIL, ARTICLES, MOUVEMENTS...)
• 28 </a:t>
            </a:r>
            <a:r>
              <a:rPr lang="ar-DZ">
                <a:solidFill>
                  <a:srgbClr val="E8E8E8"/>
                </a:solidFill>
                <a:latin typeface="Arial" panose="020B0604020202020204" pitchFamily="34" charset="0"/>
              </a:rPr>
              <a:t>وحدة </a:t>
            </a:r>
            <a:r>
              <a:rPr lang="en-US">
                <a:solidFill>
                  <a:srgbClr val="E8E8E8"/>
                </a:solidFill>
                <a:latin typeface="Arial" panose="020B0604020202020204" pitchFamily="34" charset="0"/>
              </a:rPr>
              <a:t>VBA (mod_StockEngine, mod_Analysis...)
• </a:t>
            </a:r>
            <a:r>
              <a:rPr lang="ar-DZ">
                <a:solidFill>
                  <a:srgbClr val="E8E8E8"/>
                </a:solidFill>
                <a:latin typeface="Arial" panose="020B0604020202020204" pitchFamily="34" charset="0"/>
              </a:rPr>
              <a:t>حماية بكلمة مرور على جميع الأوراق
• سجل مراجعة غير قابل للتعديل (</a:t>
            </a:r>
            <a:r>
              <a:rPr lang="en-US">
                <a:solidFill>
                  <a:srgbClr val="E8E8E8"/>
                </a:solidFill>
                <a:latin typeface="Arial" panose="020B0604020202020204" pitchFamily="34" charset="0"/>
              </a:rPr>
              <a:t>Append-Only)
• </a:t>
            </a:r>
            <a:r>
              <a:rPr lang="ar-DZ">
                <a:solidFill>
                  <a:srgbClr val="E8E8E8"/>
                </a:solidFill>
                <a:latin typeface="Arial" panose="020B0604020202020204" pitchFamily="34" charset="0"/>
              </a:rPr>
              <a:t>واجهة </a:t>
            </a:r>
            <a:r>
              <a:rPr lang="en-US">
                <a:solidFill>
                  <a:srgbClr val="E8E8E8"/>
                </a:solidFill>
                <a:latin typeface="Arial" panose="020B0604020202020204" pitchFamily="34" charset="0"/>
              </a:rPr>
              <a:t>UserForms </a:t>
            </a:r>
            <a:r>
              <a:rPr lang="ar-DZ">
                <a:solidFill>
                  <a:srgbClr val="E8E8E8"/>
                </a:solidFill>
                <a:latin typeface="Arial" panose="020B0604020202020204" pitchFamily="34" charset="0"/>
              </a:rPr>
              <a:t>لإدخال الحركات
• توليد </a:t>
            </a:r>
            <a:r>
              <a:rPr lang="en-US">
                <a:solidFill>
                  <a:srgbClr val="E8E8E8"/>
                </a:solidFill>
                <a:latin typeface="Arial" panose="020B0604020202020204" pitchFamily="34" charset="0"/>
              </a:rPr>
              <a:t>PDF </a:t>
            </a:r>
            <a:r>
              <a:rPr lang="ar-DZ">
                <a:solidFill>
                  <a:srgbClr val="E8E8E8"/>
                </a:solidFill>
                <a:latin typeface="Arial" panose="020B0604020202020204" pitchFamily="34" charset="0"/>
              </a:rPr>
              <a:t>تلقائي (</a:t>
            </a:r>
            <a:r>
              <a:rPr lang="en-US">
                <a:solidFill>
                  <a:srgbClr val="E8E8E8"/>
                </a:solidFill>
                <a:latin typeface="Arial" panose="020B0604020202020204" pitchFamily="34" charset="0"/>
              </a:rPr>
              <a:t>DA/BC/BR/BS)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62318A-8460-4B9D-B6F0-425F5572BE89}"/>
              </a:ext>
            </a:extLst>
          </p:cNvPr>
          <p:cNvSpPr txBox="1"/>
          <p:nvPr/>
        </p:nvSpPr>
        <p:spPr>
          <a:xfrm>
            <a:off x="10795000" y="6096000"/>
            <a:ext cx="127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rial" panose="020B0604020202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00162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36DD3-EC6C-4EC4-B94A-71F824E994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56087E-7E9E-4F6A-A1D6-990CC93749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660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76B7FB-3C07-4DBE-BBC3-5705F3934AC9}"/>
              </a:ext>
            </a:extLst>
          </p:cNvPr>
          <p:cNvSpPr txBox="1"/>
          <p:nvPr/>
        </p:nvSpPr>
        <p:spPr>
          <a:xfrm>
            <a:off x="635000" y="3810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ar-DZ" sz="2800" b="1">
                <a:solidFill>
                  <a:srgbClr val="A3CC4E"/>
                </a:solidFill>
                <a:latin typeface="Arial" panose="020B0604020202020204" pitchFamily="34" charset="0"/>
              </a:rPr>
              <a:t>الابتكار 1: نظام الحراسة المزدوجة</a:t>
            </a:r>
            <a:endParaRPr lang="en-US" sz="2800" b="1">
              <a:solidFill>
                <a:srgbClr val="A3CC4E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BCCD55-52BC-4272-82C5-F7BE67D64BD7}"/>
              </a:ext>
            </a:extLst>
          </p:cNvPr>
          <p:cNvSpPr txBox="1"/>
          <p:nvPr/>
        </p:nvSpPr>
        <p:spPr>
          <a:xfrm>
            <a:off x="635000" y="1651000"/>
            <a:ext cx="10922000" cy="338554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>
                <a:solidFill>
                  <a:srgbClr val="E8E8E8"/>
                </a:solidFill>
                <a:latin typeface="Arial" panose="020B0604020202020204" pitchFamily="34" charset="0"/>
              </a:rPr>
              <a:t>Dual-Guard System — </a:t>
            </a:r>
            <a:r>
              <a:rPr lang="ar-DZ">
                <a:solidFill>
                  <a:srgbClr val="E8E8E8"/>
                </a:solidFill>
                <a:latin typeface="Arial" panose="020B0604020202020204" pitchFamily="34" charset="0"/>
              </a:rPr>
              <a:t>منع الأرصدة الوهمية
الحراسة الأولى: التحقق من صلاحية الإدخال قبل الكتابة
الحراسة الثانية: منع الرصيد السالب آنيًا
النتيجة: كل حركة تتحقق من الرصيد المتاح قبل التأكيد
42% أصناف حرجة سابقًا ← 0 أرصدة وهمية بعد النظام</a:t>
            </a:r>
            <a:endParaRPr lang="en-US">
              <a:solidFill>
                <a:srgbClr val="E8E8E8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794039-68D6-47E8-B14E-F13D28989D82}"/>
              </a:ext>
            </a:extLst>
          </p:cNvPr>
          <p:cNvSpPr txBox="1"/>
          <p:nvPr/>
        </p:nvSpPr>
        <p:spPr>
          <a:xfrm>
            <a:off x="10795000" y="6096000"/>
            <a:ext cx="127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rial" panose="020B0604020202020204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019547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7A6F8C-2E5C-4071-B012-E27BCCEF4E21}"/>
              </a:ext>
            </a:extLst>
          </p:cNvPr>
          <p:cNvSpPr txBox="1"/>
          <p:nvPr/>
        </p:nvSpPr>
        <p:spPr>
          <a:xfrm>
            <a:off x="635000" y="3810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ar-DZ" sz="2800" b="1">
                <a:solidFill>
                  <a:srgbClr val="A3CC4E"/>
                </a:solidFill>
                <a:latin typeface="Arial" panose="020B0604020202020204" pitchFamily="34" charset="0"/>
              </a:rPr>
              <a:t>الابتكار 2: الحسابات الآنية</a:t>
            </a:r>
            <a:endParaRPr lang="en-US" sz="2800" b="1">
              <a:solidFill>
                <a:srgbClr val="A3CC4E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BF6774-1DE4-492E-B876-DBCD38C30F5A}"/>
              </a:ext>
            </a:extLst>
          </p:cNvPr>
          <p:cNvSpPr txBox="1"/>
          <p:nvPr/>
        </p:nvSpPr>
        <p:spPr>
          <a:xfrm>
            <a:off x="635000" y="1651000"/>
            <a:ext cx="10922000" cy="338554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>
                <a:solidFill>
                  <a:srgbClr val="E8E8E8"/>
                </a:solidFill>
                <a:latin typeface="Arial" panose="020B0604020202020204" pitchFamily="34" charset="0"/>
              </a:rPr>
              <a:t>EOQ + CMUP + ROP — </a:t>
            </a:r>
            <a:r>
              <a:rPr lang="ar-DZ">
                <a:solidFill>
                  <a:srgbClr val="E8E8E8"/>
                </a:solidFill>
                <a:latin typeface="Arial" panose="020B0604020202020204" pitchFamily="34" charset="0"/>
              </a:rPr>
              <a:t>كلها تعمل آنياً
• </a:t>
            </a:r>
            <a:r>
              <a:rPr lang="en-US">
                <a:solidFill>
                  <a:srgbClr val="E8E8E8"/>
                </a:solidFill>
                <a:latin typeface="Arial" panose="020B0604020202020204" pitchFamily="34" charset="0"/>
              </a:rPr>
              <a:t>EOQ (Wilson): Q* = 176 </a:t>
            </a:r>
            <a:r>
              <a:rPr lang="ar-DZ">
                <a:solidFill>
                  <a:srgbClr val="E8E8E8"/>
                </a:solidFill>
                <a:latin typeface="Arial" panose="020B0604020202020204" pitchFamily="34" charset="0"/>
              </a:rPr>
              <a:t>وحدة
• </a:t>
            </a:r>
            <a:r>
              <a:rPr lang="en-US">
                <a:solidFill>
                  <a:srgbClr val="E8E8E8"/>
                </a:solidFill>
                <a:latin typeface="Arial" panose="020B0604020202020204" pitchFamily="34" charset="0"/>
              </a:rPr>
              <a:t>ROP: 205.6 </a:t>
            </a:r>
            <a:r>
              <a:rPr lang="ar-DZ">
                <a:solidFill>
                  <a:srgbClr val="E8E8E8"/>
                </a:solidFill>
                <a:latin typeface="Arial" panose="020B0604020202020204" pitchFamily="34" charset="0"/>
              </a:rPr>
              <a:t>وحدة
• </a:t>
            </a:r>
            <a:r>
              <a:rPr lang="en-US">
                <a:solidFill>
                  <a:srgbClr val="E8E8E8"/>
                </a:solidFill>
                <a:latin typeface="Arial" panose="020B0604020202020204" pitchFamily="34" charset="0"/>
              </a:rPr>
              <a:t>CMUP: </a:t>
            </a:r>
            <a:r>
              <a:rPr lang="ar-DZ">
                <a:solidFill>
                  <a:srgbClr val="E8E8E8"/>
                </a:solidFill>
                <a:latin typeface="Arial" panose="020B0604020202020204" pitchFamily="34" charset="0"/>
              </a:rPr>
              <a:t>آني مع كل حركة
• </a:t>
            </a:r>
            <a:r>
              <a:rPr lang="en-US">
                <a:solidFill>
                  <a:srgbClr val="E8E8E8"/>
                </a:solidFill>
                <a:latin typeface="Arial" panose="020B0604020202020204" pitchFamily="34" charset="0"/>
              </a:rPr>
              <a:t>ABC-XYZ: A: 84% </a:t>
            </a:r>
            <a:r>
              <a:rPr lang="ar-DZ">
                <a:solidFill>
                  <a:srgbClr val="E8E8E8"/>
                </a:solidFill>
                <a:latin typeface="Arial" panose="020B0604020202020204" pitchFamily="34" charset="0"/>
              </a:rPr>
              <a:t>من القيمة
الحسابات اليدوية: 15-20 دقيقة ← الآن 30 ثانية</a:t>
            </a:r>
            <a:endParaRPr lang="en-US">
              <a:solidFill>
                <a:srgbClr val="E8E8E8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FD9DC9-1D57-43A4-AA61-C1F2E34ADFB7}"/>
              </a:ext>
            </a:extLst>
          </p:cNvPr>
          <p:cNvSpPr txBox="1"/>
          <p:nvPr/>
        </p:nvSpPr>
        <p:spPr>
          <a:xfrm>
            <a:off x="10795000" y="6096000"/>
            <a:ext cx="127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rial" panose="020B0604020202020204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437958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748D39-47BB-4EC3-9A03-018E486E0E69}"/>
              </a:ext>
            </a:extLst>
          </p:cNvPr>
          <p:cNvSpPr txBox="1"/>
          <p:nvPr/>
        </p:nvSpPr>
        <p:spPr>
          <a:xfrm>
            <a:off x="635000" y="3810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ar-DZ" sz="2800" b="1">
                <a:solidFill>
                  <a:srgbClr val="A3CC4E"/>
                </a:solidFill>
                <a:latin typeface="Arial" panose="020B0604020202020204" pitchFamily="34" charset="0"/>
              </a:rPr>
              <a:t>النتائج — قبل وبعد</a:t>
            </a:r>
            <a:endParaRPr lang="en-US" sz="2800" b="1">
              <a:solidFill>
                <a:srgbClr val="A3CC4E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556D49-014A-4CA4-B391-3918744BB766}"/>
              </a:ext>
            </a:extLst>
          </p:cNvPr>
          <p:cNvSpPr txBox="1"/>
          <p:nvPr/>
        </p:nvSpPr>
        <p:spPr>
          <a:xfrm>
            <a:off x="635000" y="1651000"/>
            <a:ext cx="10922000" cy="64017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ar-DZ">
                <a:solidFill>
                  <a:srgbClr val="E8E8E8"/>
                </a:solidFill>
                <a:latin typeface="Arial" panose="020B0604020202020204" pitchFamily="34" charset="0"/>
              </a:rPr>
              <a:t>قبل (النظام اليدوي):
• جرد يدوي: أسابيع
• حسابات يدوية: 15-20 دقيقة/حركة
• 42% أصناف حرجة
• لا تنبيهات
• أرصدة وهمية
بعد (نظام دعم القرار):
• جرد آني: لحظة واحدة
• تسجيل آلي: 30 ثانية/حركة
• تنبيهات </a:t>
            </a:r>
            <a:r>
              <a:rPr lang="en-US">
                <a:solidFill>
                  <a:srgbClr val="E8E8E8"/>
                </a:solidFill>
                <a:latin typeface="Arial" panose="020B0604020202020204" pitchFamily="34" charset="0"/>
              </a:rPr>
              <a:t>ROP </a:t>
            </a:r>
            <a:r>
              <a:rPr lang="ar-DZ">
                <a:solidFill>
                  <a:srgbClr val="E8E8E8"/>
                </a:solidFill>
                <a:latin typeface="Arial" panose="020B0604020202020204" pitchFamily="34" charset="0"/>
              </a:rPr>
              <a:t>تلقائية
• حراسة مزدوجة: 0 أخطاء
• سجل مراجعة غير قابل للتعديل
97% تخفيض زمن المعالجة</a:t>
            </a:r>
            <a:endParaRPr lang="en-US">
              <a:solidFill>
                <a:srgbClr val="E8E8E8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2E460C-7E18-48BF-8801-B13B683F4689}"/>
              </a:ext>
            </a:extLst>
          </p:cNvPr>
          <p:cNvSpPr txBox="1"/>
          <p:nvPr/>
        </p:nvSpPr>
        <p:spPr>
          <a:xfrm>
            <a:off x="10795000" y="6096000"/>
            <a:ext cx="127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rial" panose="020B0604020202020204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145445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857EBC-8BDB-443E-B5A1-A6C46D4D3630}"/>
              </a:ext>
            </a:extLst>
          </p:cNvPr>
          <p:cNvSpPr txBox="1"/>
          <p:nvPr/>
        </p:nvSpPr>
        <p:spPr>
          <a:xfrm>
            <a:off x="635000" y="3810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ar-DZ" sz="2800" b="1">
                <a:solidFill>
                  <a:srgbClr val="A3CC4E"/>
                </a:solidFill>
                <a:latin typeface="Arial" panose="020B0604020202020204" pitchFamily="34" charset="0"/>
              </a:rPr>
              <a:t>المؤشرات الرئيسية</a:t>
            </a:r>
            <a:endParaRPr lang="en-US" sz="2800" b="1">
              <a:solidFill>
                <a:srgbClr val="A3CC4E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C98C7C-55D3-486A-A65C-C6D1BE0952B9}"/>
              </a:ext>
            </a:extLst>
          </p:cNvPr>
          <p:cNvSpPr txBox="1"/>
          <p:nvPr/>
        </p:nvSpPr>
        <p:spPr>
          <a:xfrm>
            <a:off x="635000" y="1651000"/>
            <a:ext cx="10922000" cy="295465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ar-DZ">
                <a:solidFill>
                  <a:srgbClr val="E8E8E8"/>
                </a:solidFill>
                <a:latin typeface="Arial" panose="020B0604020202020204" pitchFamily="34" charset="0"/>
              </a:rPr>
              <a:t>• 1,546 وحدة/سنة (</a:t>
            </a:r>
            <a:r>
              <a:rPr lang="en-US">
                <a:solidFill>
                  <a:srgbClr val="E8E8E8"/>
                </a:solidFill>
                <a:latin typeface="Arial" panose="020B0604020202020204" pitchFamily="34" charset="0"/>
              </a:rPr>
              <a:t>D)
• 176 </a:t>
            </a:r>
            <a:r>
              <a:rPr lang="ar-DZ">
                <a:solidFill>
                  <a:srgbClr val="E8E8E8"/>
                </a:solidFill>
                <a:latin typeface="Arial" panose="020B0604020202020204" pitchFamily="34" charset="0"/>
              </a:rPr>
              <a:t>وحدة (</a:t>
            </a:r>
            <a:r>
              <a:rPr lang="en-US">
                <a:solidFill>
                  <a:srgbClr val="E8E8E8"/>
                </a:solidFill>
                <a:latin typeface="Arial" panose="020B0604020202020204" pitchFamily="34" charset="0"/>
              </a:rPr>
              <a:t>Q*)
• 97% </a:t>
            </a:r>
            <a:r>
              <a:rPr lang="ar-DZ">
                <a:solidFill>
                  <a:srgbClr val="E8E8E8"/>
                </a:solidFill>
                <a:latin typeface="Arial" panose="020B0604020202020204" pitchFamily="34" charset="0"/>
              </a:rPr>
              <a:t>تخفيض زمن المعالجة
• 0 دج التكلفة
• 38 يوم ملاحظة ميدانية
• 58 ولاية قابلة للنشر
• 100% تطابق محاسبي-فيزيائي</a:t>
            </a:r>
            <a:endParaRPr lang="en-US">
              <a:solidFill>
                <a:srgbClr val="E8E8E8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6461E4-2F69-4B61-AE43-E0A9526CEAF8}"/>
              </a:ext>
            </a:extLst>
          </p:cNvPr>
          <p:cNvSpPr txBox="1"/>
          <p:nvPr/>
        </p:nvSpPr>
        <p:spPr>
          <a:xfrm>
            <a:off x="10795000" y="6096000"/>
            <a:ext cx="127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rial" panose="020B0604020202020204" pitchFamily="34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749026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D1A128-0EB0-4947-9383-C77C1AFD1AB8}"/>
              </a:ext>
            </a:extLst>
          </p:cNvPr>
          <p:cNvSpPr txBox="1"/>
          <p:nvPr/>
        </p:nvSpPr>
        <p:spPr>
          <a:xfrm>
            <a:off x="635000" y="3810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ar-DZ" sz="2800" b="1">
                <a:solidFill>
                  <a:srgbClr val="A3CC4E"/>
                </a:solidFill>
                <a:latin typeface="Arial" panose="020B0604020202020204" pitchFamily="34" charset="0"/>
              </a:rPr>
              <a:t>الانسجام مع </a:t>
            </a:r>
            <a:r>
              <a:rPr lang="en-US" sz="2800" b="1">
                <a:solidFill>
                  <a:srgbClr val="A3CC4E"/>
                </a:solidFill>
                <a:latin typeface="Arial" panose="020B0604020202020204" pitchFamily="34" charset="0"/>
              </a:rPr>
              <a:t>CNEPD TAG1801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9F1DA2-BB58-4769-81B8-6C90DC075862}"/>
              </a:ext>
            </a:extLst>
          </p:cNvPr>
          <p:cNvSpPr txBox="1"/>
          <p:nvPr/>
        </p:nvSpPr>
        <p:spPr>
          <a:xfrm>
            <a:off x="635000" y="1651000"/>
            <a:ext cx="10922000" cy="338554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ar-DZ">
                <a:solidFill>
                  <a:srgbClr val="E8E8E8"/>
                </a:solidFill>
                <a:latin typeface="Arial" panose="020B0604020202020204" pitchFamily="34" charset="0"/>
              </a:rPr>
              <a:t>كل سداس من المنهاج مُطبَّق في وحدة </a:t>
            </a:r>
            <a:r>
              <a:rPr lang="en-US">
                <a:solidFill>
                  <a:srgbClr val="E8E8E8"/>
                </a:solidFill>
                <a:latin typeface="Arial" panose="020B0604020202020204" pitchFamily="34" charset="0"/>
              </a:rPr>
              <a:t>VBA
• </a:t>
            </a:r>
            <a:r>
              <a:rPr lang="ar-DZ">
                <a:solidFill>
                  <a:srgbClr val="E8E8E8"/>
                </a:solidFill>
                <a:latin typeface="Arial" panose="020B0604020202020204" pitchFamily="34" charset="0"/>
              </a:rPr>
              <a:t>السداسي 1: دراسات الأسعار → حساب التكاليف
• السداسي 2: إجراءات الشراء → </a:t>
            </a:r>
            <a:r>
              <a:rPr lang="en-US">
                <a:solidFill>
                  <a:srgbClr val="E8E8E8"/>
                </a:solidFill>
                <a:latin typeface="Arial" panose="020B0604020202020204" pitchFamily="34" charset="0"/>
              </a:rPr>
              <a:t>DA/BC/BR/BS
• </a:t>
            </a:r>
            <a:r>
              <a:rPr lang="ar-DZ">
                <a:solidFill>
                  <a:srgbClr val="E8E8E8"/>
                </a:solidFill>
                <a:latin typeface="Arial" panose="020B0604020202020204" pitchFamily="34" charset="0"/>
              </a:rPr>
              <a:t>السداسي 3: النماذج الرياضية → </a:t>
            </a:r>
            <a:r>
              <a:rPr lang="en-US">
                <a:solidFill>
                  <a:srgbClr val="E8E8E8"/>
                </a:solidFill>
                <a:latin typeface="Arial" panose="020B0604020202020204" pitchFamily="34" charset="0"/>
              </a:rPr>
              <a:t>EOQ + ROP
• </a:t>
            </a:r>
            <a:r>
              <a:rPr lang="ar-DZ">
                <a:solidFill>
                  <a:srgbClr val="E8E8E8"/>
                </a:solidFill>
                <a:latin typeface="Arial" panose="020B0604020202020204" pitchFamily="34" charset="0"/>
              </a:rPr>
              <a:t>السداسي 4: الجرد الدائم → تحديث آني + </a:t>
            </a:r>
            <a:r>
              <a:rPr lang="en-US">
                <a:solidFill>
                  <a:srgbClr val="E8E8E8"/>
                </a:solidFill>
                <a:latin typeface="Arial" panose="020B0604020202020204" pitchFamily="34" charset="0"/>
              </a:rPr>
              <a:t>Audit Trail
92.9% </a:t>
            </a:r>
            <a:r>
              <a:rPr lang="ar-DZ">
                <a:solidFill>
                  <a:srgbClr val="E8E8E8"/>
                </a:solidFill>
                <a:latin typeface="Arial" panose="020B0604020202020204" pitchFamily="34" charset="0"/>
              </a:rPr>
              <a:t>درجة التوافق مع معايير </a:t>
            </a:r>
            <a:r>
              <a:rPr lang="en-US">
                <a:solidFill>
                  <a:srgbClr val="E8E8E8"/>
                </a:solidFill>
                <a:latin typeface="Arial" panose="020B0604020202020204" pitchFamily="34" charset="0"/>
              </a:rPr>
              <a:t>CNEPD (79/85)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9855B5-E419-44BE-9BA8-905CB494BE20}"/>
              </a:ext>
            </a:extLst>
          </p:cNvPr>
          <p:cNvSpPr txBox="1"/>
          <p:nvPr/>
        </p:nvSpPr>
        <p:spPr>
          <a:xfrm>
            <a:off x="10795000" y="6096000"/>
            <a:ext cx="127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rial" panose="020B0604020202020204" pitchFamily="3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0747236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76DC60-BC24-45CA-BAF3-AED52A9E938F}"/>
              </a:ext>
            </a:extLst>
          </p:cNvPr>
          <p:cNvSpPr txBox="1"/>
          <p:nvPr/>
        </p:nvSpPr>
        <p:spPr>
          <a:xfrm>
            <a:off x="635000" y="3810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ar-DZ" sz="2800" b="1">
                <a:solidFill>
                  <a:srgbClr val="A3CC4E"/>
                </a:solidFill>
                <a:latin typeface="Arial" panose="020B0604020202020204" pitchFamily="34" charset="0"/>
              </a:rPr>
              <a:t>إمكانية التعميم على 58 ولاية</a:t>
            </a:r>
            <a:endParaRPr lang="en-US" sz="2800" b="1">
              <a:solidFill>
                <a:srgbClr val="A3CC4E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A16096-BAE6-4346-B6EC-FC4692CE86CE}"/>
              </a:ext>
            </a:extLst>
          </p:cNvPr>
          <p:cNvSpPr txBox="1"/>
          <p:nvPr/>
        </p:nvSpPr>
        <p:spPr>
          <a:xfrm>
            <a:off x="635000" y="1651000"/>
            <a:ext cx="10922000" cy="338554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ar-DZ">
                <a:solidFill>
                  <a:srgbClr val="E8E8E8"/>
                </a:solidFill>
                <a:latin typeface="Arial" panose="020B0604020202020204" pitchFamily="34" charset="0"/>
              </a:rPr>
              <a:t>نموذج النشر — 3 أسابيع، 0 دج
• نسخ ملف </a:t>
            </a:r>
            <a:r>
              <a:rPr lang="en-US">
                <a:solidFill>
                  <a:srgbClr val="E8E8E8"/>
                </a:solidFill>
                <a:latin typeface="Arial" panose="020B0604020202020204" pitchFamily="34" charset="0"/>
              </a:rPr>
              <a:t>Excel: </a:t>
            </a:r>
            <a:r>
              <a:rPr lang="ar-DZ">
                <a:solidFill>
                  <a:srgbClr val="E8E8E8"/>
                </a:solidFill>
                <a:latin typeface="Arial" panose="020B0604020202020204" pitchFamily="34" charset="0"/>
              </a:rPr>
              <a:t>يوم واحد
• تعديل البيانات المرجعية: أسبوع
• تدريب المسير: 3 أيام
• تشغيل تجريبي + ضبط المعاملات: أسبوعان
العائق الوحيد: بيانات ميدانية محلية (متوفرة)</a:t>
            </a:r>
            <a:endParaRPr lang="en-US">
              <a:solidFill>
                <a:srgbClr val="E8E8E8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3B8B02-7BD3-44DB-91B6-B7DE86234761}"/>
              </a:ext>
            </a:extLst>
          </p:cNvPr>
          <p:cNvSpPr txBox="1"/>
          <p:nvPr/>
        </p:nvSpPr>
        <p:spPr>
          <a:xfrm>
            <a:off x="10795000" y="6096000"/>
            <a:ext cx="127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rial" panose="020B0604020202020204" pitchFamily="34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2544772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B2B202-048C-41C3-B89A-FFC036A1D729}"/>
              </a:ext>
            </a:extLst>
          </p:cNvPr>
          <p:cNvSpPr txBox="1"/>
          <p:nvPr/>
        </p:nvSpPr>
        <p:spPr>
          <a:xfrm>
            <a:off x="635000" y="3810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ar-DZ" sz="2800" b="1">
                <a:solidFill>
                  <a:srgbClr val="A3CC4E"/>
                </a:solidFill>
                <a:latin typeface="Arial" panose="020B0604020202020204" pitchFamily="34" charset="0"/>
              </a:rPr>
              <a:t>التكامل مع منظومة </a:t>
            </a:r>
            <a:r>
              <a:rPr lang="en-US" sz="2800" b="1">
                <a:solidFill>
                  <a:srgbClr val="A3CC4E"/>
                </a:solidFill>
                <a:latin typeface="Arial" panose="020B0604020202020204" pitchFamily="34" charset="0"/>
              </a:rPr>
              <a:t>SIGLE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FF3E5E-858F-4419-B3A3-1777EF586244}"/>
              </a:ext>
            </a:extLst>
          </p:cNvPr>
          <p:cNvSpPr txBox="1"/>
          <p:nvPr/>
        </p:nvSpPr>
        <p:spPr>
          <a:xfrm>
            <a:off x="635000" y="1651000"/>
            <a:ext cx="10922000" cy="252376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>
                <a:solidFill>
                  <a:srgbClr val="E8E8E8"/>
                </a:solidFill>
                <a:latin typeface="Arial" panose="020B0604020202020204" pitchFamily="34" charset="0"/>
              </a:rPr>
              <a:t>SIGLE = </a:t>
            </a:r>
            <a:r>
              <a:rPr lang="ar-DZ">
                <a:solidFill>
                  <a:srgbClr val="E8E8E8"/>
                </a:solidFill>
                <a:latin typeface="Arial" panose="020B0604020202020204" pitchFamily="34" charset="0"/>
              </a:rPr>
              <a:t>منظومة المحاسبة العمومية الجزائرية
• </a:t>
            </a:r>
            <a:r>
              <a:rPr lang="en-US">
                <a:solidFill>
                  <a:srgbClr val="E8E8E8"/>
                </a:solidFill>
                <a:latin typeface="Arial" panose="020B0604020202020204" pitchFamily="34" charset="0"/>
              </a:rPr>
              <a:t>SIGLE: </a:t>
            </a:r>
            <a:r>
              <a:rPr lang="ar-DZ">
                <a:solidFill>
                  <a:srgbClr val="E8E8E8"/>
                </a:solidFill>
                <a:latin typeface="Arial" panose="020B0604020202020204" pitchFamily="34" charset="0"/>
              </a:rPr>
              <a:t>يغطي الجانب المالي (ميزانية، محاسبة)
• </a:t>
            </a:r>
            <a:r>
              <a:rPr lang="en-US">
                <a:solidFill>
                  <a:srgbClr val="E8E8E8"/>
                </a:solidFill>
                <a:latin typeface="Arial" panose="020B0604020202020204" pitchFamily="34" charset="0"/>
              </a:rPr>
              <a:t>DSS: </a:t>
            </a:r>
            <a:r>
              <a:rPr lang="ar-DZ">
                <a:solidFill>
                  <a:srgbClr val="E8E8E8"/>
                </a:solidFill>
                <a:latin typeface="Arial" panose="020B0604020202020204" pitchFamily="34" charset="0"/>
              </a:rPr>
              <a:t>يغطي جانب المخزون (لا يغطيه </a:t>
            </a:r>
            <a:r>
              <a:rPr lang="en-US">
                <a:solidFill>
                  <a:srgbClr val="E8E8E8"/>
                </a:solidFill>
                <a:latin typeface="Arial" panose="020B0604020202020204" pitchFamily="34" charset="0"/>
              </a:rPr>
              <a:t>SIGLE)
• </a:t>
            </a:r>
            <a:r>
              <a:rPr lang="ar-DZ">
                <a:solidFill>
                  <a:srgbClr val="E8E8E8"/>
                </a:solidFill>
                <a:latin typeface="Arial" panose="020B0604020202020204" pitchFamily="34" charset="0"/>
              </a:rPr>
              <a:t>الربط: تصدير </a:t>
            </a:r>
            <a:r>
              <a:rPr lang="en-US">
                <a:solidFill>
                  <a:srgbClr val="E8E8E8"/>
                </a:solidFill>
                <a:latin typeface="Arial" panose="020B0604020202020204" pitchFamily="34" charset="0"/>
              </a:rPr>
              <a:t>CSV </a:t>
            </a:r>
            <a:r>
              <a:rPr lang="ar-DZ">
                <a:solidFill>
                  <a:srgbClr val="E8E8E8"/>
                </a:solidFill>
                <a:latin typeface="Arial" panose="020B0604020202020204" pitchFamily="34" charset="0"/>
              </a:rPr>
              <a:t>شهري ← استيراد في </a:t>
            </a:r>
            <a:r>
              <a:rPr lang="en-US">
                <a:solidFill>
                  <a:srgbClr val="E8E8E8"/>
                </a:solidFill>
                <a:latin typeface="Arial" panose="020B0604020202020204" pitchFamily="34" charset="0"/>
              </a:rPr>
              <a:t>SIGLE
• </a:t>
            </a:r>
            <a:r>
              <a:rPr lang="ar-DZ">
                <a:solidFill>
                  <a:srgbClr val="E8E8E8"/>
                </a:solidFill>
                <a:latin typeface="Arial" panose="020B0604020202020204" pitchFamily="34" charset="0"/>
              </a:rPr>
              <a:t>الملحق 6: خارطة طريق تفصيلية</a:t>
            </a:r>
            <a:endParaRPr lang="en-US">
              <a:solidFill>
                <a:srgbClr val="E8E8E8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E11ED1-BF0A-4A90-AE25-8EADA507130C}"/>
              </a:ext>
            </a:extLst>
          </p:cNvPr>
          <p:cNvSpPr txBox="1"/>
          <p:nvPr/>
        </p:nvSpPr>
        <p:spPr>
          <a:xfrm>
            <a:off x="10795000" y="6096000"/>
            <a:ext cx="127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rial" panose="020B0604020202020204" pitchFamily="34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62596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590F31-ABA8-4AA4-A218-840327050D7F}"/>
              </a:ext>
            </a:extLst>
          </p:cNvPr>
          <p:cNvSpPr txBox="1"/>
          <p:nvPr/>
        </p:nvSpPr>
        <p:spPr>
          <a:xfrm>
            <a:off x="635000" y="3810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ar-DZ" sz="2800" b="1">
                <a:solidFill>
                  <a:srgbClr val="A3CC4E"/>
                </a:solidFill>
                <a:latin typeface="Arial" panose="020B0604020202020204" pitchFamily="34" charset="0"/>
              </a:rPr>
              <a:t>الخاتمة والتوصيات</a:t>
            </a:r>
            <a:endParaRPr lang="en-US" sz="2800" b="1">
              <a:solidFill>
                <a:srgbClr val="A3CC4E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AC1265-8065-4E1E-A8AE-BD844F0982F3}"/>
              </a:ext>
            </a:extLst>
          </p:cNvPr>
          <p:cNvSpPr txBox="1"/>
          <p:nvPr/>
        </p:nvSpPr>
        <p:spPr>
          <a:xfrm>
            <a:off x="635000" y="1651000"/>
            <a:ext cx="10922000" cy="424731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ar-DZ">
                <a:solidFill>
                  <a:srgbClr val="E8E8E8"/>
                </a:solidFill>
                <a:latin typeface="Arial" panose="020B0604020202020204" pitchFamily="34" charset="0"/>
              </a:rPr>
              <a:t>النتائج:
• تخفيض 97% في زمن المعالجة
• 0 أرصدة وهمية بعد الحراسة المزدوجة
• 100% تطابق محاسبي-فيزيائي
• قابل للتعميم على 58 ولاية
التوصيات:
1. نشر النظام في مديريات التربية الأخرى
2. التكامل مع </a:t>
            </a:r>
            <a:r>
              <a:rPr lang="en-US">
                <a:solidFill>
                  <a:srgbClr val="E8E8E8"/>
                </a:solidFill>
                <a:latin typeface="Arial" panose="020B0604020202020204" pitchFamily="34" charset="0"/>
              </a:rPr>
              <a:t>SIGLE </a:t>
            </a:r>
            <a:r>
              <a:rPr lang="ar-DZ">
                <a:solidFill>
                  <a:srgbClr val="E8E8E8"/>
                </a:solidFill>
                <a:latin typeface="Arial" panose="020B0604020202020204" pitchFamily="34" charset="0"/>
              </a:rPr>
              <a:t>للمحاسبة العمومية
3. تطوير نسخة ويب (عند توفر الإنترنت)</a:t>
            </a:r>
            <a:endParaRPr lang="en-US">
              <a:solidFill>
                <a:srgbClr val="E8E8E8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974785-41BD-4B19-924B-DD36DEF17A85}"/>
              </a:ext>
            </a:extLst>
          </p:cNvPr>
          <p:cNvSpPr txBox="1"/>
          <p:nvPr/>
        </p:nvSpPr>
        <p:spPr>
          <a:xfrm>
            <a:off x="10795000" y="6096000"/>
            <a:ext cx="127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rial" panose="020B0604020202020204" pitchFamily="34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372290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621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2973E-AA2F-4CCE-A01A-09BD66805C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3F0F01-D655-4E82-80CB-B404D6CE8F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E7844C-5BE3-42BE-91F1-9837FC974112}"/>
              </a:ext>
            </a:extLst>
          </p:cNvPr>
          <p:cNvSpPr txBox="1"/>
          <p:nvPr/>
        </p:nvSpPr>
        <p:spPr>
          <a:xfrm>
            <a:off x="635000" y="190500"/>
            <a:ext cx="10922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ar-DZ" sz="2200" b="1">
                <a:solidFill>
                  <a:srgbClr val="A2B44E"/>
                </a:solidFill>
                <a:latin typeface="Arial" panose="020B0604020202020204" pitchFamily="34" charset="0"/>
              </a:rPr>
              <a:t>واجهة النظام - نموذج إدخال الحركات</a:t>
            </a:r>
            <a:endParaRPr lang="en-US" sz="2200" b="1">
              <a:solidFill>
                <a:srgbClr val="A2B44E"/>
              </a:solidFill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5199B3-1F1A-4A01-95CF-2CF53FB07E5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889000"/>
            <a:ext cx="106680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7039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83A229-A5F8-4D03-AC0A-02F9ECBA47FE}"/>
              </a:ext>
            </a:extLst>
          </p:cNvPr>
          <p:cNvSpPr txBox="1"/>
          <p:nvPr/>
        </p:nvSpPr>
        <p:spPr>
          <a:xfrm>
            <a:off x="1270000" y="2286000"/>
            <a:ext cx="9652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ar-DZ" sz="3200" b="1">
                <a:solidFill>
                  <a:srgbClr val="A3CC4E"/>
                </a:solidFill>
                <a:latin typeface="Arial" panose="020B0604020202020204" pitchFamily="34" charset="0"/>
              </a:rPr>
              <a:t>شكرًا</a:t>
            </a:r>
            <a:endParaRPr lang="en-US" sz="3200" b="1">
              <a:solidFill>
                <a:srgbClr val="A3CC4E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563781-249A-494C-ACA0-97AD4ED73ED6}"/>
              </a:ext>
            </a:extLst>
          </p:cNvPr>
          <p:cNvSpPr txBox="1"/>
          <p:nvPr/>
        </p:nvSpPr>
        <p:spPr>
          <a:xfrm>
            <a:off x="1270000" y="3810000"/>
            <a:ext cx="9652000" cy="175432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ar-DZ">
                <a:solidFill>
                  <a:srgbClr val="AAAAAA"/>
                </a:solidFill>
                <a:latin typeface="Arial" panose="020B0604020202020204" pitchFamily="34" charset="0"/>
              </a:rPr>
              <a:t>ماحي كمال عبد الغني
إشراف: دهيني ميمونة
معهد </a:t>
            </a:r>
            <a:r>
              <a:rPr lang="en-US">
                <a:solidFill>
                  <a:srgbClr val="AAAAAA"/>
                </a:solidFill>
                <a:latin typeface="Arial" panose="020B0604020202020204" pitchFamily="34" charset="0"/>
              </a:rPr>
              <a:t>INMF </a:t>
            </a:r>
            <a:r>
              <a:rPr lang="ar-DZ">
                <a:solidFill>
                  <a:srgbClr val="AAAAAA"/>
                </a:solidFill>
                <a:latin typeface="Arial" panose="020B0604020202020204" pitchFamily="34" charset="0"/>
              </a:rPr>
              <a:t>بن سعيدي عبد العاطي — البيض
نظام دعم القرار لتسيير المخزون </a:t>
            </a:r>
            <a:r>
              <a:rPr lang="en-US">
                <a:solidFill>
                  <a:srgbClr val="AAAAAA"/>
                </a:solidFill>
                <a:latin typeface="Arial" panose="020B0604020202020204" pitchFamily="34" charset="0"/>
              </a:rPr>
              <a:t>v13.2
</a:t>
            </a:r>
            <a:r>
              <a:rPr lang="ar-DZ">
                <a:solidFill>
                  <a:srgbClr val="AAAAAA"/>
                </a:solidFill>
                <a:latin typeface="Arial" panose="020B0604020202020204" pitchFamily="34" charset="0"/>
              </a:rPr>
              <a:t>الرقمنة ممكنة بموارد محدودة</a:t>
            </a:r>
            <a:endParaRPr lang="en-US">
              <a:solidFill>
                <a:srgbClr val="AAAAAA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6491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884</Words>
  <Application>Microsoft Office PowerPoint</Application>
  <PresentationFormat>Widescreen</PresentationFormat>
  <Paragraphs>55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Administrator</cp:lastModifiedBy>
  <cp:revision>4</cp:revision>
  <dcterms:created xsi:type="dcterms:W3CDTF">2026-05-06T06:42:57Z</dcterms:created>
  <dcterms:modified xsi:type="dcterms:W3CDTF">2026-05-06T06:57:22Z</dcterms:modified>
</cp:coreProperties>
</file>